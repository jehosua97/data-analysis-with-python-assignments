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  <p:sldMasterId id="2147483677" r:id="rId3"/>
  </p:sldMasterIdLst>
  <p:notesMasterIdLst>
    <p:notesMasterId r:id="rId17"/>
  </p:notesMasterIdLst>
  <p:sldIdLst>
    <p:sldId id="256" r:id="rId4"/>
    <p:sldId id="257" r:id="rId5"/>
    <p:sldId id="268" r:id="rId6"/>
    <p:sldId id="269" r:id="rId7"/>
    <p:sldId id="258" r:id="rId8"/>
    <p:sldId id="259" r:id="rId9"/>
    <p:sldId id="260" r:id="rId10"/>
    <p:sldId id="261" r:id="rId11"/>
    <p:sldId id="262" r:id="rId12"/>
    <p:sldId id="267" r:id="rId13"/>
    <p:sldId id="264" r:id="rId14"/>
    <p:sldId id="265" r:id="rId15"/>
    <p:sldId id="266" r:id="rId16"/>
  </p:sldIdLst>
  <p:sldSz cx="9144000" cy="5143500" type="screen16x9"/>
  <p:notesSz cx="7023100" cy="9309100"/>
  <p:embeddedFontLst>
    <p:embeddedFont>
      <p:font typeface="Dosis" pitchFamily="2" charset="0"/>
      <p:regular r:id="rId18"/>
      <p:bold r:id="rId19"/>
    </p:embeddedFont>
    <p:embeddedFont>
      <p:font typeface="Fira Sans Condensed" panose="020B0503050000020004" pitchFamily="34" charset="0"/>
      <p:regular r:id="rId20"/>
      <p:bold r:id="rId21"/>
      <p:italic r:id="rId22"/>
      <p:boldItalic r:id="rId23"/>
    </p:embeddedFont>
    <p:embeddedFont>
      <p:font typeface="Lucida Sans" panose="020B060203050402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5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90350" y="698175"/>
            <a:ext cx="62433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2300" y="4421800"/>
            <a:ext cx="5618475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8db8f64a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48db8f64a6_0_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e1709d4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e1709d4e_0_2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C2770CF-A475-131A-465A-B822D3D0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e1709d4e_0_21:notes">
            <a:extLst>
              <a:ext uri="{FF2B5EF4-FFF2-40B4-BE49-F238E27FC236}">
                <a16:creationId xmlns:a16="http://schemas.microsoft.com/office/drawing/2014/main" id="{1A692212-74B2-AE78-EA5C-DDA27A8F7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e1709d4e_0_21:notes">
            <a:extLst>
              <a:ext uri="{FF2B5EF4-FFF2-40B4-BE49-F238E27FC236}">
                <a16:creationId xmlns:a16="http://schemas.microsoft.com/office/drawing/2014/main" id="{65726F91-E2B9-B045-E97C-867DE0656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077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E615EF9-42C7-9E6E-9629-99CDD68F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e1709d4e_0_21:notes">
            <a:extLst>
              <a:ext uri="{FF2B5EF4-FFF2-40B4-BE49-F238E27FC236}">
                <a16:creationId xmlns:a16="http://schemas.microsoft.com/office/drawing/2014/main" id="{12989C97-9B0D-0949-08ED-5A57C8089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e1709d4e_0_21:notes">
            <a:extLst>
              <a:ext uri="{FF2B5EF4-FFF2-40B4-BE49-F238E27FC236}">
                <a16:creationId xmlns:a16="http://schemas.microsoft.com/office/drawing/2014/main" id="{0A80B3D3-F1D2-EA3B-60B7-6FA7F4275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549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e58cb5c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e58cb5c2c_0_0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8db8f64a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48db8f64a6_0_13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e1709d4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4e1709d4e_0_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e1709d4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e1709d4e_0_4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e1709d4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e1709d4e_0_49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DA5405F3-A571-953F-2AAF-C1B4AFF4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e1709d4e_0_49:notes">
            <a:extLst>
              <a:ext uri="{FF2B5EF4-FFF2-40B4-BE49-F238E27FC236}">
                <a16:creationId xmlns:a16="http://schemas.microsoft.com/office/drawing/2014/main" id="{69D30EC5-DBE9-5C76-62C4-0B8E18904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e1709d4e_0_49:notes">
            <a:extLst>
              <a:ext uri="{FF2B5EF4-FFF2-40B4-BE49-F238E27FC236}">
                <a16:creationId xmlns:a16="http://schemas.microsoft.com/office/drawing/2014/main" id="{11EC9589-9542-ACC4-84C4-41931122F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218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e1709d4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e1709d4e_0_7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e1709d4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4e1709d4e_0_2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867fcc0e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350" y="698175"/>
            <a:ext cx="62433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867fcc0e5_0_111:notes"/>
          <p:cNvSpPr txBox="1">
            <a:spLocks noGrp="1"/>
          </p:cNvSpPr>
          <p:nvPr>
            <p:ph type="body" idx="1"/>
          </p:nvPr>
        </p:nvSpPr>
        <p:spPr>
          <a:xfrm>
            <a:off x="702300" y="4421800"/>
            <a:ext cx="5618400" cy="4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3389301" y="2232837"/>
            <a:ext cx="23655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 b="0" i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 flipH="1">
            <a:off x="-150" y="0"/>
            <a:ext cx="9144000" cy="5181300"/>
          </a:xfrm>
          <a:prstGeom prst="rect">
            <a:avLst/>
          </a:prstGeom>
          <a:solidFill>
            <a:srgbClr val="B82E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8349" y="283226"/>
            <a:ext cx="595975" cy="27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2775" y="4516022"/>
            <a:ext cx="1266749" cy="41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">
  <p:cSld name="TITLE_AND_BOD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rgbClr val="000000">
              <a:alpha val="2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9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rgbClr val="0DB7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9"/>
          <p:cNvSpPr txBox="1">
            <a:spLocks noGrp="1"/>
          </p:cNvSpPr>
          <p:nvPr>
            <p:ph type="title"/>
          </p:nvPr>
        </p:nvSpPr>
        <p:spPr>
          <a:xfrm>
            <a:off x="844425" y="5600"/>
            <a:ext cx="52524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1"/>
          </p:nvPr>
        </p:nvSpPr>
        <p:spPr>
          <a:xfrm>
            <a:off x="844425" y="1332600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solidFill>
            <a:srgbClr val="B3282D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9"/>
          <p:cNvSpPr/>
          <p:nvPr/>
        </p:nvSpPr>
        <p:spPr>
          <a:xfrm>
            <a:off x="0" y="4720500"/>
            <a:ext cx="9144000" cy="423000"/>
          </a:xfrm>
          <a:prstGeom prst="rect">
            <a:avLst/>
          </a:prstGeom>
          <a:solidFill>
            <a:srgbClr val="77777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9"/>
          <p:cNvSpPr/>
          <p:nvPr/>
        </p:nvSpPr>
        <p:spPr>
          <a:xfrm>
            <a:off x="7642725" y="3625300"/>
            <a:ext cx="1511700" cy="1518000"/>
          </a:xfrm>
          <a:prstGeom prst="rect">
            <a:avLst/>
          </a:prstGeom>
          <a:solidFill>
            <a:srgbClr val="77777A"/>
          </a:solidFill>
          <a:ln w="9525" cap="flat" cmpd="sng">
            <a:solidFill>
              <a:srgbClr val="7777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0675" y="73380"/>
            <a:ext cx="1300575" cy="6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background">
  <p:cSld name="TITLE_ONLY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/>
          <p:nvPr/>
        </p:nvSpPr>
        <p:spPr>
          <a:xfrm flipH="1">
            <a:off x="-75" y="0"/>
            <a:ext cx="1851600" cy="5143500"/>
          </a:xfrm>
          <a:prstGeom prst="rect">
            <a:avLst/>
          </a:prstGeom>
          <a:solidFill>
            <a:srgbClr val="77777A">
              <a:alpha val="36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0"/>
          <p:cNvSpPr/>
          <p:nvPr/>
        </p:nvSpPr>
        <p:spPr>
          <a:xfrm flipH="1">
            <a:off x="-75" y="0"/>
            <a:ext cx="1851600" cy="1140000"/>
          </a:xfrm>
          <a:prstGeom prst="rect">
            <a:avLst/>
          </a:prstGeom>
          <a:solidFill>
            <a:srgbClr val="0DB7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0"/>
          <p:cNvSpPr txBox="1">
            <a:spLocks noGrp="1"/>
          </p:cNvSpPr>
          <p:nvPr>
            <p:ph type="title"/>
          </p:nvPr>
        </p:nvSpPr>
        <p:spPr>
          <a:xfrm>
            <a:off x="235225" y="1292400"/>
            <a:ext cx="13812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1851600" cy="1140000"/>
          </a:xfrm>
          <a:prstGeom prst="rect">
            <a:avLst/>
          </a:prstGeom>
          <a:solidFill>
            <a:srgbClr val="B3282D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Slide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7"/>
            <a:ext cx="6858000" cy="51431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/>
        </p:nvSpPr>
        <p:spPr>
          <a:xfrm>
            <a:off x="209075" y="4350563"/>
            <a:ext cx="246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28" name="Google Shape;1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0"/>
            <a:ext cx="91513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1"/>
          <p:cNvSpPr txBox="1"/>
          <p:nvPr/>
        </p:nvSpPr>
        <p:spPr>
          <a:xfrm>
            <a:off x="2415750" y="1005850"/>
            <a:ext cx="431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31"/>
          <p:cNvSpPr txBox="1"/>
          <p:nvPr/>
        </p:nvSpPr>
        <p:spPr>
          <a:xfrm>
            <a:off x="1817089" y="-47763"/>
            <a:ext cx="5716350" cy="1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Correlation between general health and mental health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of Indigenous People</a:t>
            </a:r>
            <a:endParaRPr sz="2800" dirty="0"/>
          </a:p>
        </p:txBody>
      </p:sp>
      <p:sp>
        <p:nvSpPr>
          <p:cNvPr id="2" name="Google Shape;130;p31">
            <a:extLst>
              <a:ext uri="{FF2B5EF4-FFF2-40B4-BE49-F238E27FC236}">
                <a16:creationId xmlns:a16="http://schemas.microsoft.com/office/drawing/2014/main" id="{EFA6E025-CF62-BD18-35EE-58193584BC8C}"/>
              </a:ext>
            </a:extLst>
          </p:cNvPr>
          <p:cNvSpPr txBox="1"/>
          <p:nvPr/>
        </p:nvSpPr>
        <p:spPr>
          <a:xfrm>
            <a:off x="1817089" y="3836776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3" name="Google Shape;130;p31">
            <a:extLst>
              <a:ext uri="{FF2B5EF4-FFF2-40B4-BE49-F238E27FC236}">
                <a16:creationId xmlns:a16="http://schemas.microsoft.com/office/drawing/2014/main" id="{8A27FA91-B59E-920A-D491-E0FDBC6B14CB}"/>
              </a:ext>
            </a:extLst>
          </p:cNvPr>
          <p:cNvSpPr txBox="1"/>
          <p:nvPr/>
        </p:nvSpPr>
        <p:spPr>
          <a:xfrm>
            <a:off x="1722675" y="3888851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1" dirty="0"/>
              <a:t>Team Members:</a:t>
            </a:r>
          </a:p>
          <a:p>
            <a:r>
              <a:rPr lang="en-CA" dirty="0"/>
              <a:t>Dylan Luong (5150921)</a:t>
            </a:r>
            <a:endParaRPr lang="en-CA" sz="1800" dirty="0"/>
          </a:p>
          <a:p>
            <a:r>
              <a:rPr lang="en-CA" dirty="0"/>
              <a:t>Iman Fatima Ghani (5152246)</a:t>
            </a:r>
            <a:endParaRPr lang="en-CA" sz="1800" dirty="0"/>
          </a:p>
          <a:p>
            <a:r>
              <a:rPr lang="en-CA" dirty="0" err="1"/>
              <a:t>Jehosua</a:t>
            </a:r>
            <a:r>
              <a:rPr lang="en-CA" dirty="0"/>
              <a:t> Alan Joya Venegas (5149910)</a:t>
            </a:r>
            <a:endParaRPr lang="en-CA" sz="1800" dirty="0"/>
          </a:p>
          <a:p>
            <a:r>
              <a:rPr lang="en-CA" dirty="0" err="1"/>
              <a:t>Saurodeep</a:t>
            </a:r>
            <a:r>
              <a:rPr lang="en-CA" dirty="0"/>
              <a:t> Majumdar (5153010)</a:t>
            </a:r>
            <a:endParaRPr lang="en-CA" sz="1800" dirty="0"/>
          </a:p>
          <a:p>
            <a:br>
              <a:rPr lang="en-CA" sz="1800" dirty="0"/>
            </a:b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" name="Google Shape;130;p31">
            <a:extLst>
              <a:ext uri="{FF2B5EF4-FFF2-40B4-BE49-F238E27FC236}">
                <a16:creationId xmlns:a16="http://schemas.microsoft.com/office/drawing/2014/main" id="{914315C3-4AEF-1C38-ACE8-6F71C425D6E0}"/>
              </a:ext>
            </a:extLst>
          </p:cNvPr>
          <p:cNvSpPr txBox="1"/>
          <p:nvPr/>
        </p:nvSpPr>
        <p:spPr>
          <a:xfrm>
            <a:off x="2777392" y="3128276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sz="1800" dirty="0"/>
              <a:t>Course: Data Analysis for Python</a:t>
            </a:r>
            <a:br>
              <a:rPr lang="en-CA" sz="1800" dirty="0"/>
            </a:b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/>
        </p:nvSpPr>
        <p:spPr>
          <a:xfrm>
            <a:off x="480150" y="475761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6" name="Google Shape;136;p32"/>
          <p:cNvSpPr txBox="1"/>
          <p:nvPr/>
        </p:nvSpPr>
        <p:spPr>
          <a:xfrm>
            <a:off x="151538" y="675863"/>
            <a:ext cx="8946356" cy="404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algn="ctr">
              <a:buClr>
                <a:schemeClr val="dk2"/>
              </a:buClr>
              <a:buSzPts val="1800"/>
            </a:pPr>
            <a:endParaRPr lang="en-US" sz="2800" b="1" dirty="0">
              <a:solidFill>
                <a:schemeClr val="dk2"/>
              </a:solidFill>
            </a:endParaRPr>
          </a:p>
          <a:p>
            <a:pPr marL="114300" algn="ctr">
              <a:buClr>
                <a:schemeClr val="dk2"/>
              </a:buClr>
              <a:buSzPts val="1800"/>
            </a:pPr>
            <a:r>
              <a:rPr lang="en-US" sz="2800" b="1" dirty="0">
                <a:solidFill>
                  <a:schemeClr val="dk2"/>
                </a:solidFill>
              </a:rPr>
              <a:t>Introduction</a:t>
            </a:r>
          </a:p>
          <a:p>
            <a:pPr marL="114300" lvl="0">
              <a:buClr>
                <a:schemeClr val="dk2"/>
              </a:buClr>
              <a:buSzPts val="1800"/>
            </a:pPr>
            <a:r>
              <a:rPr lang="en-US" sz="1800" b="1" dirty="0">
                <a:solidFill>
                  <a:schemeClr val="dk2"/>
                </a:solidFill>
              </a:rPr>
              <a:t>Project</a:t>
            </a:r>
            <a:r>
              <a:rPr lang="en-US" sz="1800" dirty="0">
                <a:solidFill>
                  <a:schemeClr val="dk2"/>
                </a:solidFill>
              </a:rPr>
              <a:t> focus on Indigenous People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Mental and Physical Health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Housing</a:t>
            </a:r>
            <a:r>
              <a:rPr lang="en-US" sz="1800" dirty="0">
                <a:solidFill>
                  <a:schemeClr val="dk2"/>
                </a:solidFill>
              </a:rPr>
              <a:t>: Need for repairs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Crowding: </a:t>
            </a:r>
            <a:r>
              <a:rPr lang="en-US" sz="1800" dirty="0">
                <a:solidFill>
                  <a:schemeClr val="dk2"/>
                </a:solidFill>
              </a:rPr>
              <a:t>Persons per room</a:t>
            </a:r>
          </a:p>
          <a:p>
            <a:pPr marL="114300" lvl="0">
              <a:buClr>
                <a:schemeClr val="dk2"/>
              </a:buClr>
              <a:buSzPts val="1800"/>
            </a:pPr>
            <a:endParaRPr lang="en-US" sz="1800" b="1" dirty="0">
              <a:solidFill>
                <a:schemeClr val="dk2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b="1" dirty="0">
                <a:solidFill>
                  <a:schemeClr val="dk2"/>
                </a:solidFill>
              </a:rPr>
              <a:t>Indigenous</a:t>
            </a:r>
            <a:r>
              <a:rPr lang="en-US" sz="1800" dirty="0">
                <a:solidFill>
                  <a:schemeClr val="dk2"/>
                </a:solidFill>
              </a:rPr>
              <a:t> People: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First Nations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Inuit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2"/>
                </a:solidFill>
              </a:rPr>
              <a:t>Metis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endParaRPr lang="en-US" sz="1800" b="1" dirty="0">
              <a:solidFill>
                <a:schemeClr val="dk2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b="1" dirty="0">
                <a:solidFill>
                  <a:schemeClr val="dk2"/>
                </a:solidFill>
              </a:rPr>
              <a:t>Tool</a:t>
            </a:r>
            <a:r>
              <a:rPr lang="en-US" sz="1800" dirty="0">
                <a:solidFill>
                  <a:schemeClr val="dk2"/>
                </a:solidFill>
              </a:rPr>
              <a:t> used for impact analysis</a:t>
            </a: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b="1" dirty="0">
                <a:solidFill>
                  <a:schemeClr val="dk2"/>
                </a:solidFill>
              </a:rPr>
              <a:t>Visualization by Tableau</a:t>
            </a:r>
          </a:p>
        </p:txBody>
      </p:sp>
      <p:sp>
        <p:nvSpPr>
          <p:cNvPr id="2" name="Google Shape;130;p31">
            <a:extLst>
              <a:ext uri="{FF2B5EF4-FFF2-40B4-BE49-F238E27FC236}">
                <a16:creationId xmlns:a16="http://schemas.microsoft.com/office/drawing/2014/main" id="{32C2DF84-DA77-4717-64FC-E6C6388D9FC9}"/>
              </a:ext>
            </a:extLst>
          </p:cNvPr>
          <p:cNvSpPr txBox="1"/>
          <p:nvPr/>
        </p:nvSpPr>
        <p:spPr>
          <a:xfrm>
            <a:off x="111918" y="123687"/>
            <a:ext cx="7910511" cy="121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/>
              <a:t>Correlation between general health and mental health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/>
              <a:t>of Indigenous People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24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>
          <a:extLst>
            <a:ext uri="{FF2B5EF4-FFF2-40B4-BE49-F238E27FC236}">
              <a16:creationId xmlns:a16="http://schemas.microsoft.com/office/drawing/2014/main" id="{D4069D8A-2F37-FAEF-0046-87065FB2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>
            <a:extLst>
              <a:ext uri="{FF2B5EF4-FFF2-40B4-BE49-F238E27FC236}">
                <a16:creationId xmlns:a16="http://schemas.microsoft.com/office/drawing/2014/main" id="{154D212B-5030-8096-C780-912D8FAE48F2}"/>
              </a:ext>
            </a:extLst>
          </p:cNvPr>
          <p:cNvSpPr txBox="1"/>
          <p:nvPr/>
        </p:nvSpPr>
        <p:spPr>
          <a:xfrm>
            <a:off x="480150" y="475761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36" name="Google Shape;136;p32">
            <a:extLst>
              <a:ext uri="{FF2B5EF4-FFF2-40B4-BE49-F238E27FC236}">
                <a16:creationId xmlns:a16="http://schemas.microsoft.com/office/drawing/2014/main" id="{FB02625C-5300-36E0-FBB7-0B84DE7CD465}"/>
              </a:ext>
            </a:extLst>
          </p:cNvPr>
          <p:cNvSpPr txBox="1"/>
          <p:nvPr/>
        </p:nvSpPr>
        <p:spPr>
          <a:xfrm>
            <a:off x="211930" y="1137825"/>
            <a:ext cx="8853489" cy="346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algn="ctr">
              <a:buClr>
                <a:schemeClr val="dk2"/>
              </a:buClr>
              <a:buSzPts val="1800"/>
            </a:pPr>
            <a:r>
              <a:rPr lang="en-US" sz="2800" b="1" dirty="0">
                <a:solidFill>
                  <a:schemeClr val="dk2"/>
                </a:solidFill>
              </a:rPr>
              <a:t>Introduction</a:t>
            </a:r>
          </a:p>
          <a:p>
            <a:pPr marL="114300">
              <a:buClr>
                <a:schemeClr val="dk2"/>
              </a:buClr>
              <a:buSzPts val="1800"/>
            </a:pPr>
            <a:r>
              <a:rPr lang="en-US" sz="2000" b="1" dirty="0">
                <a:solidFill>
                  <a:schemeClr val="dk2"/>
                </a:solidFill>
              </a:rPr>
              <a:t>Characteristics:</a:t>
            </a:r>
          </a:p>
          <a:p>
            <a:pPr marL="11430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Original Inhabitants of Canada</a:t>
            </a:r>
          </a:p>
          <a:p>
            <a:pPr marL="114300">
              <a:buClr>
                <a:schemeClr val="dk2"/>
              </a:buClr>
              <a:buSzPts val="1800"/>
            </a:pPr>
            <a:endParaRPr lang="en-US" sz="2000" dirty="0">
              <a:solidFill>
                <a:schemeClr val="dk2"/>
              </a:solidFill>
            </a:endParaRPr>
          </a:p>
          <a:p>
            <a:pPr marL="11430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Community Oriented, Like Hunting and Gathering </a:t>
            </a:r>
          </a:p>
          <a:p>
            <a:pPr marL="114300">
              <a:buClr>
                <a:schemeClr val="dk2"/>
              </a:buClr>
              <a:buSzPts val="1800"/>
            </a:pPr>
            <a:endParaRPr lang="en-US" sz="2000" dirty="0">
              <a:solidFill>
                <a:schemeClr val="dk2"/>
              </a:solidFill>
            </a:endParaRPr>
          </a:p>
          <a:p>
            <a:pPr marL="11430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Remote Communities, Less accessibility of housing amenities</a:t>
            </a:r>
          </a:p>
          <a:p>
            <a:pPr marL="11430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First Nations – Residents of Reserve Land [5, 2] </a:t>
            </a:r>
          </a:p>
          <a:p>
            <a:pPr marL="114300" lvl="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Metis – No specific region. Mixed people of European and First Nation Descent [1]</a:t>
            </a:r>
          </a:p>
          <a:p>
            <a:pPr marL="114300" lvl="0">
              <a:buClr>
                <a:schemeClr val="dk2"/>
              </a:buClr>
              <a:buSzPts val="1800"/>
            </a:pPr>
            <a:r>
              <a:rPr lang="en-US" sz="2000" dirty="0">
                <a:solidFill>
                  <a:schemeClr val="dk2"/>
                </a:solidFill>
              </a:rPr>
              <a:t>Inuit - Inhabitants of Nunavut, Quebec, NFL, Northwest Territories [6]</a:t>
            </a:r>
          </a:p>
        </p:txBody>
      </p:sp>
      <p:sp>
        <p:nvSpPr>
          <p:cNvPr id="3" name="Google Shape;130;p31">
            <a:extLst>
              <a:ext uri="{FF2B5EF4-FFF2-40B4-BE49-F238E27FC236}">
                <a16:creationId xmlns:a16="http://schemas.microsoft.com/office/drawing/2014/main" id="{970BB4E5-88C0-136A-5CB4-7684765B880C}"/>
              </a:ext>
            </a:extLst>
          </p:cNvPr>
          <p:cNvSpPr txBox="1"/>
          <p:nvPr/>
        </p:nvSpPr>
        <p:spPr>
          <a:xfrm>
            <a:off x="359569" y="159983"/>
            <a:ext cx="7910511" cy="121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/>
              <a:t>Correlation between general health and mental health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/>
              <a:t>of Indigenous People</a:t>
            </a:r>
            <a:endParaRPr sz="2400" i="1" dirty="0"/>
          </a:p>
        </p:txBody>
      </p:sp>
    </p:spTree>
    <p:extLst>
      <p:ext uri="{BB962C8B-B14F-4D97-AF65-F5344CB8AC3E}">
        <p14:creationId xmlns:p14="http://schemas.microsoft.com/office/powerpoint/2010/main" val="156737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>
          <a:extLst>
            <a:ext uri="{FF2B5EF4-FFF2-40B4-BE49-F238E27FC236}">
              <a16:creationId xmlns:a16="http://schemas.microsoft.com/office/drawing/2014/main" id="{6E42DC34-8ED6-77D1-6F28-446D9815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>
            <a:extLst>
              <a:ext uri="{FF2B5EF4-FFF2-40B4-BE49-F238E27FC236}">
                <a16:creationId xmlns:a16="http://schemas.microsoft.com/office/drawing/2014/main" id="{97419461-959F-7DB2-AFED-D4DEEC861456}"/>
              </a:ext>
            </a:extLst>
          </p:cNvPr>
          <p:cNvSpPr txBox="1"/>
          <p:nvPr/>
        </p:nvSpPr>
        <p:spPr>
          <a:xfrm>
            <a:off x="480150" y="475761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023CA-ECB2-1EB2-C2C0-9A0E327B3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10" y="1215389"/>
            <a:ext cx="8435740" cy="3640313"/>
          </a:xfrm>
          <a:prstGeom prst="rect">
            <a:avLst/>
          </a:prstGeom>
        </p:spPr>
      </p:pic>
      <p:sp>
        <p:nvSpPr>
          <p:cNvPr id="5" name="Google Shape;148;p34">
            <a:extLst>
              <a:ext uri="{FF2B5EF4-FFF2-40B4-BE49-F238E27FC236}">
                <a16:creationId xmlns:a16="http://schemas.microsoft.com/office/drawing/2014/main" id="{D31F6957-1566-5B99-3704-126C30A47520}"/>
              </a:ext>
            </a:extLst>
          </p:cNvPr>
          <p:cNvSpPr txBox="1"/>
          <p:nvPr/>
        </p:nvSpPr>
        <p:spPr>
          <a:xfrm>
            <a:off x="2315387" y="692885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800" dirty="0">
                <a:solidFill>
                  <a:schemeClr val="dk2"/>
                </a:solidFill>
              </a:rPr>
              <a:t>Indigenous Population Map in Canada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3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8;p34">
            <a:extLst>
              <a:ext uri="{FF2B5EF4-FFF2-40B4-BE49-F238E27FC236}">
                <a16:creationId xmlns:a16="http://schemas.microsoft.com/office/drawing/2014/main" id="{F673DCD5-0DBF-D817-D453-446C216E23DC}"/>
              </a:ext>
            </a:extLst>
          </p:cNvPr>
          <p:cNvSpPr txBox="1"/>
          <p:nvPr/>
        </p:nvSpPr>
        <p:spPr>
          <a:xfrm>
            <a:off x="2547797" y="513815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800" dirty="0">
                <a:solidFill>
                  <a:schemeClr val="dk2"/>
                </a:solidFill>
              </a:rPr>
              <a:t>Population of Indigenous People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" name="Google Shape;146;p34">
            <a:extLst>
              <a:ext uri="{FF2B5EF4-FFF2-40B4-BE49-F238E27FC236}">
                <a16:creationId xmlns:a16="http://schemas.microsoft.com/office/drawing/2014/main" id="{0A8A828B-CE7B-2C6A-BEF8-D74C09B97F88}"/>
              </a:ext>
            </a:extLst>
          </p:cNvPr>
          <p:cNvSpPr txBox="1"/>
          <p:nvPr/>
        </p:nvSpPr>
        <p:spPr>
          <a:xfrm>
            <a:off x="1317521" y="4154129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2"/>
                </a:solidFill>
              </a:rPr>
              <a:t>- Population Highest among Metis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6F5B9D-0F7A-6E77-E6D3-93239097B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977755"/>
            <a:ext cx="6848752" cy="318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/>
        </p:nvSpPr>
        <p:spPr>
          <a:xfrm>
            <a:off x="289138" y="3506884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Focus on Metis as they have the highest mental health related issues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" name="Google Shape;148;p34">
            <a:extLst>
              <a:ext uri="{FF2B5EF4-FFF2-40B4-BE49-F238E27FC236}">
                <a16:creationId xmlns:a16="http://schemas.microsoft.com/office/drawing/2014/main" id="{245B5587-69E2-B651-1E6E-F134FF08C449}"/>
              </a:ext>
            </a:extLst>
          </p:cNvPr>
          <p:cNvSpPr txBox="1"/>
          <p:nvPr/>
        </p:nvSpPr>
        <p:spPr>
          <a:xfrm>
            <a:off x="2222995" y="588110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800" dirty="0">
                <a:solidFill>
                  <a:schemeClr val="dk2"/>
                </a:solidFill>
              </a:rPr>
              <a:t>Indigenous Population Mental Health</a:t>
            </a: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3F6F61-4BD2-188F-8FA5-C96A08590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93" y="1186930"/>
            <a:ext cx="8497615" cy="217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/>
          <p:nvPr/>
        </p:nvSpPr>
        <p:spPr>
          <a:xfrm>
            <a:off x="803460" y="3886842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Metis Mental Health ( 25 to 54 years of age and 55 years and over)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45.42% and 46.19% of individuals have self-perceived mental health fair or poor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3" name="Google Shape;148;p34">
            <a:extLst>
              <a:ext uri="{FF2B5EF4-FFF2-40B4-BE49-F238E27FC236}">
                <a16:creationId xmlns:a16="http://schemas.microsoft.com/office/drawing/2014/main" id="{89A17F94-20AC-1E05-E240-F67877492B04}"/>
              </a:ext>
            </a:extLst>
          </p:cNvPr>
          <p:cNvSpPr txBox="1"/>
          <p:nvPr/>
        </p:nvSpPr>
        <p:spPr>
          <a:xfrm>
            <a:off x="2430578" y="543446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Metis Mental Health by Age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7ADCD0-76C9-A8F5-6B1E-B5A7498B8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1" y="929073"/>
            <a:ext cx="6515100" cy="30530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/>
        </p:nvSpPr>
        <p:spPr>
          <a:xfrm>
            <a:off x="1341824" y="4156445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90% Major or Minor repairs needed to houses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4" name="Google Shape;148;p34">
            <a:extLst>
              <a:ext uri="{FF2B5EF4-FFF2-40B4-BE49-F238E27FC236}">
                <a16:creationId xmlns:a16="http://schemas.microsoft.com/office/drawing/2014/main" id="{8276A327-5D61-B8E1-37E9-6C72CE5559A6}"/>
              </a:ext>
            </a:extLst>
          </p:cNvPr>
          <p:cNvSpPr txBox="1"/>
          <p:nvPr/>
        </p:nvSpPr>
        <p:spPr>
          <a:xfrm>
            <a:off x="2301038" y="581546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Metis Housing Needs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1640E-98FF-92C1-0829-A2BF110CD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824" y="987055"/>
            <a:ext cx="6176417" cy="2986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/>
        </p:nvSpPr>
        <p:spPr>
          <a:xfrm>
            <a:off x="1242156" y="4469730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dirty="0">
                <a:solidFill>
                  <a:schemeClr val="dk2"/>
                </a:solidFill>
              </a:rPr>
              <a:t>- Men are having more major or minor repairs needed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3" name="Google Shape;148;p34">
            <a:extLst>
              <a:ext uri="{FF2B5EF4-FFF2-40B4-BE49-F238E27FC236}">
                <a16:creationId xmlns:a16="http://schemas.microsoft.com/office/drawing/2014/main" id="{E58B2F5B-70C5-D949-BA32-340D9922A2BB}"/>
              </a:ext>
            </a:extLst>
          </p:cNvPr>
          <p:cNvSpPr txBox="1"/>
          <p:nvPr/>
        </p:nvSpPr>
        <p:spPr>
          <a:xfrm>
            <a:off x="2717926" y="573680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Metis Housing Needs Repairs by Gender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76883-8B8A-E089-ED2C-F39A7138D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156" y="1078230"/>
            <a:ext cx="7082694" cy="3336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>
          <a:extLst>
            <a:ext uri="{FF2B5EF4-FFF2-40B4-BE49-F238E27FC236}">
              <a16:creationId xmlns:a16="http://schemas.microsoft.com/office/drawing/2014/main" id="{FEB734D6-51E9-BF55-FA80-2E612F6A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>
            <a:extLst>
              <a:ext uri="{FF2B5EF4-FFF2-40B4-BE49-F238E27FC236}">
                <a16:creationId xmlns:a16="http://schemas.microsoft.com/office/drawing/2014/main" id="{A757243D-BDEB-FE2F-D0AC-72B574319255}"/>
              </a:ext>
            </a:extLst>
          </p:cNvPr>
          <p:cNvSpPr txBox="1"/>
          <p:nvPr/>
        </p:nvSpPr>
        <p:spPr>
          <a:xfrm>
            <a:off x="1062540" y="4364078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dirty="0">
                <a:solidFill>
                  <a:schemeClr val="dk2"/>
                </a:solidFill>
              </a:rPr>
              <a:t>- Not much overcrowding present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" name="Google Shape;148;p34">
            <a:extLst>
              <a:ext uri="{FF2B5EF4-FFF2-40B4-BE49-F238E27FC236}">
                <a16:creationId xmlns:a16="http://schemas.microsoft.com/office/drawing/2014/main" id="{FDFCEF9C-51BE-4DAE-E33E-0A3535E81265}"/>
              </a:ext>
            </a:extLst>
          </p:cNvPr>
          <p:cNvSpPr txBox="1"/>
          <p:nvPr/>
        </p:nvSpPr>
        <p:spPr>
          <a:xfrm>
            <a:off x="3295448" y="604406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Metis Crowding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83C55-EA3F-31FB-6A7C-B20CB5873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96193"/>
            <a:ext cx="7121340" cy="340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/>
          <p:nvPr/>
        </p:nvSpPr>
        <p:spPr>
          <a:xfrm>
            <a:off x="773982" y="1444994"/>
            <a:ext cx="7667012" cy="280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Metis people were found to have issues of mental health related to housing needs and within higher age groups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Metis and First Nations populations mainly residing in BC, Quebec and Ontario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Inuit people less population mainly residing in Nunavut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Overcrowding not a concern for Metis, First Nations and Inuit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Cause of mental health concerns and related to income $35,600 income of Metis vs Canadians $70,500 [9, 10]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78" name="Google Shape;178;p39"/>
          <p:cNvSpPr txBox="1"/>
          <p:nvPr/>
        </p:nvSpPr>
        <p:spPr>
          <a:xfrm>
            <a:off x="2621951" y="700778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2"/>
                </a:solidFill>
              </a:rPr>
              <a:t>Analysis and Conclusion</a:t>
            </a:r>
            <a:endParaRPr sz="23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 txBox="1"/>
          <p:nvPr/>
        </p:nvSpPr>
        <p:spPr>
          <a:xfrm>
            <a:off x="567392" y="834714"/>
            <a:ext cx="8183700" cy="4955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/>
              <a:t>[1] </a:t>
            </a:r>
            <a:r>
              <a:rPr lang="en-CA" sz="1000" i="1" dirty="0"/>
              <a:t>Who are the Metis?</a:t>
            </a:r>
            <a:r>
              <a:rPr lang="en-CA" sz="1000" dirty="0"/>
              <a:t>, [Online] Metis Nation of Ontario, Ottawa, ON. Available: https://www.metisnation.org/about-the-mno/culture-heritage/</a:t>
            </a:r>
            <a:endParaRPr sz="1000" dirty="0"/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[2] </a:t>
            </a:r>
            <a:r>
              <a:rPr lang="en-CA" sz="1000" i="1" dirty="0"/>
              <a:t>The Indian Act</a:t>
            </a:r>
            <a:r>
              <a:rPr lang="en-CA" sz="1000" dirty="0"/>
              <a:t>, [Online] The Canadian Encyclopedia. Available: https://thecanadianencyclopedia.ca/en/timeline/the-indian-act</a:t>
            </a:r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[3] J.R. Miller, “Residential Schools in Canada,” Jan. 2024. Accessed: Apr, 9, 2026, [Online]. Available: https://thecanadianencyclopedia.ca/en/article/residential-schools</a:t>
            </a:r>
          </a:p>
          <a:p>
            <a:pPr lvl="0"/>
            <a:endParaRPr sz="1000" dirty="0"/>
          </a:p>
          <a:p>
            <a:pPr lvl="0"/>
            <a:r>
              <a:rPr lang="en-CA" sz="1000" dirty="0"/>
              <a:t>[4] </a:t>
            </a:r>
            <a:r>
              <a:rPr lang="en-CA" sz="1000" i="1" dirty="0"/>
              <a:t>Self-government</a:t>
            </a:r>
            <a:r>
              <a:rPr lang="en-CA" sz="1000" dirty="0"/>
              <a:t>, [Online] Government of Canada. Available: https://www.rcaanc-cirnac.gc.ca/eng/1100100032275/1529354547314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lvl="0"/>
            <a:r>
              <a:rPr lang="en-CA" sz="1000" dirty="0"/>
              <a:t>[5] R. Irwin, “Reserves in Canada,” Jan. 27, 2026. Accessed: Apr, 9, 2026, [Online]. Available: https://thecanadianencyclopedia.ca/en/article/aboriginal-reserves</a:t>
            </a:r>
            <a:endParaRPr sz="1000" dirty="0"/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[6] </a:t>
            </a:r>
            <a:r>
              <a:rPr lang="en-CA" sz="1000" i="1" dirty="0"/>
              <a:t>About Canadian Inuit</a:t>
            </a:r>
            <a:r>
              <a:rPr lang="en-CA" sz="1000" dirty="0"/>
              <a:t>, [Online] Inuit </a:t>
            </a:r>
            <a:r>
              <a:rPr lang="en-CA" sz="1000" dirty="0" err="1"/>
              <a:t>Taririit</a:t>
            </a:r>
            <a:r>
              <a:rPr lang="en-CA" sz="1000" dirty="0"/>
              <a:t> Kanatami. Available: https://itk.ca/about-canadian-inuit/</a:t>
            </a:r>
            <a:endParaRPr lang="en-CA" sz="1000" i="1" dirty="0"/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[7] </a:t>
            </a:r>
            <a:r>
              <a:rPr lang="en-CA" sz="1000" i="1" dirty="0"/>
              <a:t>Statistics Canada</a:t>
            </a:r>
            <a:r>
              <a:rPr lang="en-CA" sz="1000" dirty="0"/>
              <a:t>, [Online]. Available: https://www150.statcan.gc.ca/t1/tbl1/en/tv.action?pid=981002810</a:t>
            </a:r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[8] </a:t>
            </a:r>
            <a:r>
              <a:rPr lang="en-CA" sz="1000" i="1" dirty="0"/>
              <a:t>Statistics Canada</a:t>
            </a:r>
            <a:r>
              <a:rPr lang="en-CA" sz="1000" dirty="0"/>
              <a:t>, [Online]. Available: https://www150.statcan.gc.ca/n1/pub/11-627-m/11-627-m2024019-eng.htm1</a:t>
            </a:r>
            <a:endParaRPr lang="en-US" sz="1000" dirty="0"/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[9] </a:t>
            </a:r>
            <a:r>
              <a:rPr lang="en-CA" sz="1000" i="1" dirty="0"/>
              <a:t>Units of Latitude and Longitude</a:t>
            </a:r>
            <a:r>
              <a:rPr lang="en-CA" sz="1000" dirty="0"/>
              <a:t>, [Online] Astronomy Education at the University of Nebraska – Lincoln. Available: https://astro.unl.edu/naap/motion1/tc_units.html</a:t>
            </a:r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[10] </a:t>
            </a:r>
            <a:r>
              <a:rPr lang="en-CA" sz="1000" i="1" dirty="0"/>
              <a:t>Locating Capital Cities – Key, </a:t>
            </a:r>
            <a:r>
              <a:rPr lang="en-CA" sz="1000" dirty="0"/>
              <a:t>[Online]. Available: https://www.edu.gov.mb.ca/k12/cur/socstud/foundation_gr6/blms/6-3-1e.pdf</a:t>
            </a:r>
          </a:p>
          <a:p>
            <a:pPr lvl="0"/>
            <a:endParaRPr lang="en-CA" sz="1000" dirty="0"/>
          </a:p>
          <a:p>
            <a:pPr lvl="0"/>
            <a:r>
              <a:rPr lang="en-CA" sz="1000" dirty="0"/>
              <a:t>[11] </a:t>
            </a:r>
            <a:r>
              <a:rPr lang="en-CA" sz="1000" i="1" dirty="0"/>
              <a:t>Join Your Data</a:t>
            </a:r>
            <a:r>
              <a:rPr lang="en-CA" sz="1000" dirty="0"/>
              <a:t>, [Online] Tableau. Available: https://help.tableau.com/current/pro/desktop/en-us/joining_tables.htm</a:t>
            </a:r>
            <a:endParaRPr lang="en-CA" sz="1000" i="1" dirty="0"/>
          </a:p>
          <a:p>
            <a:pPr lvl="0"/>
            <a:endParaRPr lang="en-CA" dirty="0"/>
          </a:p>
          <a:p>
            <a:pPr lvl="0"/>
            <a:endParaRPr lang="en-CA" dirty="0"/>
          </a:p>
          <a:p>
            <a:pPr lvl="0"/>
            <a:endParaRPr lang="en-CA" dirty="0"/>
          </a:p>
          <a:p>
            <a:pPr lvl="0"/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40"/>
          <p:cNvSpPr txBox="1"/>
          <p:nvPr/>
        </p:nvSpPr>
        <p:spPr>
          <a:xfrm>
            <a:off x="567392" y="463075"/>
            <a:ext cx="8183700" cy="40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2"/>
                </a:solidFill>
              </a:rPr>
              <a:t>References</a:t>
            </a:r>
            <a:endParaRPr sz="2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1"/>
          <p:cNvSpPr txBox="1"/>
          <p:nvPr/>
        </p:nvSpPr>
        <p:spPr>
          <a:xfrm>
            <a:off x="0" y="1094100"/>
            <a:ext cx="9144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 b="1" dirty="0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 dirty="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Chi-</a:t>
            </a:r>
            <a:r>
              <a:rPr lang="en-US" sz="6000" b="1" dirty="0" err="1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Miigwetch</a:t>
            </a:r>
            <a:endParaRPr sz="6000" b="1" dirty="0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 dirty="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Thank you</a:t>
            </a:r>
            <a:endParaRPr sz="6000" b="1" dirty="0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725</Words>
  <Application>Microsoft Office PowerPoint</Application>
  <PresentationFormat>On-screen Show (16:9)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Lucida Sans</vt:lpstr>
      <vt:lpstr>Dosis</vt:lpstr>
      <vt:lpstr>Fira Sans Condensed</vt:lpstr>
      <vt:lpstr>Roboto</vt:lpstr>
      <vt:lpstr>Custom Design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Dipankar Majumdar</cp:lastModifiedBy>
  <cp:revision>23</cp:revision>
  <dcterms:modified xsi:type="dcterms:W3CDTF">2026-04-09T07:28:46Z</dcterms:modified>
</cp:coreProperties>
</file>