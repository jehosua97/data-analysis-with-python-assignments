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  <p:sldMasterId id="2147483676" r:id="rId2"/>
    <p:sldMasterId id="2147483677" r:id="rId3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4" r:id="rId11"/>
    <p:sldId id="265" r:id="rId12"/>
    <p:sldId id="266" r:id="rId13"/>
  </p:sldIdLst>
  <p:sldSz cx="9144000" cy="5143500" type="screen16x9"/>
  <p:notesSz cx="7023100" cy="9309100"/>
  <p:embeddedFontLst>
    <p:embeddedFont>
      <p:font typeface="Dosis" pitchFamily="2" charset="0"/>
      <p:regular r:id="rId15"/>
      <p:bold r:id="rId16"/>
    </p:embeddedFont>
    <p:embeddedFont>
      <p:font typeface="Fira Sans Condensed" panose="020B0503050000020004" pitchFamily="34" charset="0"/>
      <p:regular r:id="rId17"/>
      <p:bold r:id="rId18"/>
      <p:italic r:id="rId19"/>
      <p:boldItalic r:id="rId20"/>
    </p:embeddedFont>
    <p:embeddedFont>
      <p:font typeface="Lucida Sans" panose="020B0602030504020204" pitchFamily="34" charset="0"/>
      <p:regular r:id="rId21"/>
      <p:bold r:id="rId22"/>
      <p:italic r:id="rId23"/>
      <p:boldItalic r:id="rId24"/>
    </p:embeddedFont>
    <p:embeddedFont>
      <p:font typeface="Roboto" panose="02000000000000000000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708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7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10.fntdata"/><Relationship Id="rId32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7.xml"/><Relationship Id="rId19" Type="http://schemas.openxmlformats.org/officeDocument/2006/relationships/font" Target="fonts/font5.fntdata"/><Relationship Id="rId31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90350" y="698175"/>
            <a:ext cx="6243300" cy="3490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02300" y="4421800"/>
            <a:ext cx="5618475" cy="418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48db8f64a6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0479" y="698183"/>
            <a:ext cx="6242700" cy="3490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148db8f64a6_0_8:notes"/>
          <p:cNvSpPr txBox="1">
            <a:spLocks noGrp="1"/>
          </p:cNvSpPr>
          <p:nvPr>
            <p:ph type="body" idx="1"/>
          </p:nvPr>
        </p:nvSpPr>
        <p:spPr>
          <a:xfrm>
            <a:off x="702310" y="4421822"/>
            <a:ext cx="5618400" cy="4189200"/>
          </a:xfrm>
          <a:prstGeom prst="rect">
            <a:avLst/>
          </a:prstGeom>
        </p:spPr>
        <p:txBody>
          <a:bodyPr spcFirstLastPara="1" wrap="square" lIns="93450" tIns="93450" rIns="93450" bIns="93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4e1709d4e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8500"/>
            <a:ext cx="6207125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d4e1709d4e_0_21:notes"/>
          <p:cNvSpPr txBox="1">
            <a:spLocks noGrp="1"/>
          </p:cNvSpPr>
          <p:nvPr>
            <p:ph type="body" idx="1"/>
          </p:nvPr>
        </p:nvSpPr>
        <p:spPr>
          <a:xfrm>
            <a:off x="702310" y="4421822"/>
            <a:ext cx="5618400" cy="4189200"/>
          </a:xfrm>
          <a:prstGeom prst="rect">
            <a:avLst/>
          </a:prstGeom>
        </p:spPr>
        <p:txBody>
          <a:bodyPr spcFirstLastPara="1" wrap="square" lIns="93450" tIns="93450" rIns="93450" bIns="93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fe58cb5c2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0479" y="698183"/>
            <a:ext cx="6242700" cy="3490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fe58cb5c2c_0_0:notes"/>
          <p:cNvSpPr txBox="1">
            <a:spLocks noGrp="1"/>
          </p:cNvSpPr>
          <p:nvPr>
            <p:ph type="body" idx="1"/>
          </p:nvPr>
        </p:nvSpPr>
        <p:spPr>
          <a:xfrm>
            <a:off x="702310" y="4421822"/>
            <a:ext cx="5618400" cy="4189200"/>
          </a:xfrm>
          <a:prstGeom prst="rect">
            <a:avLst/>
          </a:prstGeom>
        </p:spPr>
        <p:txBody>
          <a:bodyPr spcFirstLastPara="1" wrap="square" lIns="93450" tIns="93450" rIns="93450" bIns="93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48db8f64a6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0479" y="698183"/>
            <a:ext cx="6242700" cy="3490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48db8f64a6_0_13:notes"/>
          <p:cNvSpPr txBox="1">
            <a:spLocks noGrp="1"/>
          </p:cNvSpPr>
          <p:nvPr>
            <p:ph type="body" idx="1"/>
          </p:nvPr>
        </p:nvSpPr>
        <p:spPr>
          <a:xfrm>
            <a:off x="702310" y="4421822"/>
            <a:ext cx="5618400" cy="4189200"/>
          </a:xfrm>
          <a:prstGeom prst="rect">
            <a:avLst/>
          </a:prstGeom>
        </p:spPr>
        <p:txBody>
          <a:bodyPr spcFirstLastPara="1" wrap="square" lIns="93450" tIns="93450" rIns="93450" bIns="93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4e1709d4e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0479" y="698183"/>
            <a:ext cx="6242700" cy="3490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d4e1709d4e_0_8:notes"/>
          <p:cNvSpPr txBox="1">
            <a:spLocks noGrp="1"/>
          </p:cNvSpPr>
          <p:nvPr>
            <p:ph type="body" idx="1"/>
          </p:nvPr>
        </p:nvSpPr>
        <p:spPr>
          <a:xfrm>
            <a:off x="702310" y="4421822"/>
            <a:ext cx="5618400" cy="4189200"/>
          </a:xfrm>
          <a:prstGeom prst="rect">
            <a:avLst/>
          </a:prstGeom>
        </p:spPr>
        <p:txBody>
          <a:bodyPr spcFirstLastPara="1" wrap="square" lIns="93450" tIns="93450" rIns="93450" bIns="93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4e1709d4e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8500"/>
            <a:ext cx="6207125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d4e1709d4e_0_41:notes"/>
          <p:cNvSpPr txBox="1">
            <a:spLocks noGrp="1"/>
          </p:cNvSpPr>
          <p:nvPr>
            <p:ph type="body" idx="1"/>
          </p:nvPr>
        </p:nvSpPr>
        <p:spPr>
          <a:xfrm>
            <a:off x="702310" y="4421822"/>
            <a:ext cx="5618400" cy="4189200"/>
          </a:xfrm>
          <a:prstGeom prst="rect">
            <a:avLst/>
          </a:prstGeom>
        </p:spPr>
        <p:txBody>
          <a:bodyPr spcFirstLastPara="1" wrap="square" lIns="93450" tIns="93450" rIns="93450" bIns="93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4e1709d4e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0479" y="698183"/>
            <a:ext cx="6242700" cy="3490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d4e1709d4e_0_49:notes"/>
          <p:cNvSpPr txBox="1">
            <a:spLocks noGrp="1"/>
          </p:cNvSpPr>
          <p:nvPr>
            <p:ph type="body" idx="1"/>
          </p:nvPr>
        </p:nvSpPr>
        <p:spPr>
          <a:xfrm>
            <a:off x="702310" y="4421822"/>
            <a:ext cx="5618400" cy="4189200"/>
          </a:xfrm>
          <a:prstGeom prst="rect">
            <a:avLst/>
          </a:prstGeom>
        </p:spPr>
        <p:txBody>
          <a:bodyPr spcFirstLastPara="1" wrap="square" lIns="93450" tIns="93450" rIns="93450" bIns="93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d4e1709d4e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8500"/>
            <a:ext cx="6207125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d4e1709d4e_0_71:notes"/>
          <p:cNvSpPr txBox="1">
            <a:spLocks noGrp="1"/>
          </p:cNvSpPr>
          <p:nvPr>
            <p:ph type="body" idx="1"/>
          </p:nvPr>
        </p:nvSpPr>
        <p:spPr>
          <a:xfrm>
            <a:off x="702310" y="4421822"/>
            <a:ext cx="5618400" cy="4189200"/>
          </a:xfrm>
          <a:prstGeom prst="rect">
            <a:avLst/>
          </a:prstGeom>
        </p:spPr>
        <p:txBody>
          <a:bodyPr spcFirstLastPara="1" wrap="square" lIns="93450" tIns="93450" rIns="93450" bIns="93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d4e1709d4e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8500"/>
            <a:ext cx="6207125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d4e1709d4e_0_28:notes"/>
          <p:cNvSpPr txBox="1">
            <a:spLocks noGrp="1"/>
          </p:cNvSpPr>
          <p:nvPr>
            <p:ph type="body" idx="1"/>
          </p:nvPr>
        </p:nvSpPr>
        <p:spPr>
          <a:xfrm>
            <a:off x="702310" y="4421822"/>
            <a:ext cx="5618400" cy="4189200"/>
          </a:xfrm>
          <a:prstGeom prst="rect">
            <a:avLst/>
          </a:prstGeom>
        </p:spPr>
        <p:txBody>
          <a:bodyPr spcFirstLastPara="1" wrap="square" lIns="93450" tIns="93450" rIns="93450" bIns="93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10867fcc0e5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0350" y="698175"/>
            <a:ext cx="6243300" cy="3490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10867fcc0e5_0_111:notes"/>
          <p:cNvSpPr txBox="1">
            <a:spLocks noGrp="1"/>
          </p:cNvSpPr>
          <p:nvPr>
            <p:ph type="body" idx="1"/>
          </p:nvPr>
        </p:nvSpPr>
        <p:spPr>
          <a:xfrm>
            <a:off x="702300" y="4421800"/>
            <a:ext cx="5618400" cy="41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1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1" name="Google Shape;41;p1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6" name="Google Shape;46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" name="Google Shape;49;p1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0" name="Google Shape;50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Title Only">
    <p:bg>
      <p:bgPr>
        <a:solidFill>
          <a:schemeClr val="lt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6858000" cy="385762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5"/>
          <p:cNvSpPr txBox="1">
            <a:spLocks noGrp="1"/>
          </p:cNvSpPr>
          <p:nvPr>
            <p:ph type="title"/>
          </p:nvPr>
        </p:nvSpPr>
        <p:spPr>
          <a:xfrm>
            <a:off x="3389301" y="2232837"/>
            <a:ext cx="2365500" cy="5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 sz="3600" b="0" i="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6" name="Google Shape;66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9" name="Google Shape;69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3" name="Google Shape;73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8" name="Google Shape;78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2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4" name="Google Shape;84;p22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5" name="Google Shape;85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88" name="Google Shape;88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4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92" name="Google Shape;92;p24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3" name="Google Shape;93;p24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97" name="Google Shape;97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6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0" name="Google Shape;100;p26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1" name="Google Shape;101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>
  <p:cSld name="TITLE_1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8"/>
          <p:cNvSpPr/>
          <p:nvPr/>
        </p:nvSpPr>
        <p:spPr>
          <a:xfrm flipH="1">
            <a:off x="-150" y="0"/>
            <a:ext cx="9144000" cy="5181300"/>
          </a:xfrm>
          <a:prstGeom prst="rect">
            <a:avLst/>
          </a:prstGeom>
          <a:solidFill>
            <a:srgbClr val="B82E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28349" y="283226"/>
            <a:ext cx="595975" cy="276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02775" y="4516022"/>
            <a:ext cx="1266749" cy="41392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 rtl="0">
              <a:buNone/>
              <a:defRPr sz="1300">
                <a:solidFill>
                  <a:srgbClr val="77777A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 rtl="0">
              <a:buNone/>
              <a:defRPr sz="1300">
                <a:solidFill>
                  <a:srgbClr val="77777A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 rtl="0">
              <a:buNone/>
              <a:defRPr sz="1300">
                <a:solidFill>
                  <a:srgbClr val="77777A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 rtl="0">
              <a:buNone/>
              <a:defRPr sz="1300">
                <a:solidFill>
                  <a:srgbClr val="77777A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 rtl="0">
              <a:buNone/>
              <a:defRPr sz="1300">
                <a:solidFill>
                  <a:srgbClr val="77777A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 rtl="0">
              <a:buNone/>
              <a:defRPr sz="1300">
                <a:solidFill>
                  <a:srgbClr val="77777A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 rtl="0">
              <a:buNone/>
              <a:defRPr sz="1300">
                <a:solidFill>
                  <a:srgbClr val="77777A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 rtl="0">
              <a:buNone/>
              <a:defRPr sz="1300">
                <a:solidFill>
                  <a:srgbClr val="77777A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 rtl="0">
              <a:buNone/>
              <a:defRPr sz="1300">
                <a:solidFill>
                  <a:srgbClr val="77777A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 1">
  <p:cSld name="TITLE_AND_BODY_1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9"/>
          <p:cNvSpPr/>
          <p:nvPr/>
        </p:nvSpPr>
        <p:spPr>
          <a:xfrm flipH="1">
            <a:off x="-75" y="0"/>
            <a:ext cx="669600" cy="5143500"/>
          </a:xfrm>
          <a:prstGeom prst="rect">
            <a:avLst/>
          </a:prstGeom>
          <a:solidFill>
            <a:srgbClr val="000000">
              <a:alpha val="27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9"/>
          <p:cNvSpPr/>
          <p:nvPr/>
        </p:nvSpPr>
        <p:spPr>
          <a:xfrm flipH="1">
            <a:off x="-75" y="0"/>
            <a:ext cx="669600" cy="1140000"/>
          </a:xfrm>
          <a:prstGeom prst="rect">
            <a:avLst/>
          </a:prstGeom>
          <a:solidFill>
            <a:srgbClr val="0DB7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9"/>
          <p:cNvSpPr txBox="1">
            <a:spLocks noGrp="1"/>
          </p:cNvSpPr>
          <p:nvPr>
            <p:ph type="title"/>
          </p:nvPr>
        </p:nvSpPr>
        <p:spPr>
          <a:xfrm>
            <a:off x="844425" y="5600"/>
            <a:ext cx="5252400" cy="11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9"/>
          <p:cNvSpPr txBox="1">
            <a:spLocks noGrp="1"/>
          </p:cNvSpPr>
          <p:nvPr>
            <p:ph type="body" idx="1"/>
          </p:nvPr>
        </p:nvSpPr>
        <p:spPr>
          <a:xfrm>
            <a:off x="844425" y="1332600"/>
            <a:ext cx="5169000" cy="33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▹"/>
              <a:defRPr sz="2400"/>
            </a:lvl1pPr>
            <a:lvl2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2pPr>
            <a:lvl3pPr marL="137160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⬩"/>
              <a:defRPr/>
            </a:lvl3pPr>
            <a:lvl4pPr marL="1828800" lvl="3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⬞"/>
              <a:defRPr sz="2400"/>
            </a:lvl4pPr>
            <a:lvl5pPr marL="2286000" lvl="4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114" name="Google Shape;114;p29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  <a:solidFill>
            <a:srgbClr val="B3282D"/>
          </a:solidFill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5" name="Google Shape;115;p29"/>
          <p:cNvSpPr/>
          <p:nvPr/>
        </p:nvSpPr>
        <p:spPr>
          <a:xfrm>
            <a:off x="0" y="4720500"/>
            <a:ext cx="9144000" cy="423000"/>
          </a:xfrm>
          <a:prstGeom prst="rect">
            <a:avLst/>
          </a:prstGeom>
          <a:solidFill>
            <a:srgbClr val="77777A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9"/>
          <p:cNvSpPr/>
          <p:nvPr/>
        </p:nvSpPr>
        <p:spPr>
          <a:xfrm>
            <a:off x="7642725" y="3625300"/>
            <a:ext cx="1511700" cy="1518000"/>
          </a:xfrm>
          <a:prstGeom prst="rect">
            <a:avLst/>
          </a:prstGeom>
          <a:solidFill>
            <a:srgbClr val="77777A"/>
          </a:solidFill>
          <a:ln w="9525" cap="flat" cmpd="sng">
            <a:solidFill>
              <a:srgbClr val="77777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" name="Google Shape;117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740675" y="73380"/>
            <a:ext cx="1300575" cy="64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image background">
  <p:cSld name="TITLE_ONLY_1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0"/>
          <p:cNvSpPr/>
          <p:nvPr/>
        </p:nvSpPr>
        <p:spPr>
          <a:xfrm flipH="1">
            <a:off x="-75" y="0"/>
            <a:ext cx="1851600" cy="5143500"/>
          </a:xfrm>
          <a:prstGeom prst="rect">
            <a:avLst/>
          </a:prstGeom>
          <a:solidFill>
            <a:srgbClr val="77777A">
              <a:alpha val="360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0"/>
          <p:cNvSpPr/>
          <p:nvPr/>
        </p:nvSpPr>
        <p:spPr>
          <a:xfrm flipH="1">
            <a:off x="-75" y="0"/>
            <a:ext cx="1851600" cy="1140000"/>
          </a:xfrm>
          <a:prstGeom prst="rect">
            <a:avLst/>
          </a:prstGeom>
          <a:solidFill>
            <a:srgbClr val="0DB7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0"/>
          <p:cNvSpPr txBox="1">
            <a:spLocks noGrp="1"/>
          </p:cNvSpPr>
          <p:nvPr>
            <p:ph type="title"/>
          </p:nvPr>
        </p:nvSpPr>
        <p:spPr>
          <a:xfrm>
            <a:off x="235225" y="1292400"/>
            <a:ext cx="1381200" cy="11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22" name="Google Shape;122;p30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1851600" cy="1140000"/>
          </a:xfrm>
          <a:prstGeom prst="rect">
            <a:avLst/>
          </a:prstGeom>
          <a:solidFill>
            <a:srgbClr val="B3282D"/>
          </a:solidFill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 descr="Slide1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97"/>
            <a:ext cx="6858000" cy="514310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thecanadianencyclopedia.ca/en/article/aboriginal-reserves" TargetMode="External"/><Relationship Id="rId3" Type="http://schemas.openxmlformats.org/officeDocument/2006/relationships/image" Target="../media/image8.png"/><Relationship Id="rId7" Type="http://schemas.openxmlformats.org/officeDocument/2006/relationships/hyperlink" Target="https://www.rcaanc-cirnac.gc.ca/eng/1100100032275/1529354547314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6" Type="http://schemas.openxmlformats.org/officeDocument/2006/relationships/hyperlink" Target="https://thecanadianencyclopedia.ca/en/article/residential-schools" TargetMode="External"/><Relationship Id="rId11" Type="http://schemas.openxmlformats.org/officeDocument/2006/relationships/hyperlink" Target="https://www150.statcan.gc.ca/n1/pub/11-627-m/11-627-m2024019-eng.htm1" TargetMode="External"/><Relationship Id="rId5" Type="http://schemas.openxmlformats.org/officeDocument/2006/relationships/hyperlink" Target="https://thecanadianencyclopedia.ca/en/timeline/the-indian-act" TargetMode="External"/><Relationship Id="rId10" Type="http://schemas.openxmlformats.org/officeDocument/2006/relationships/hyperlink" Target="https://www150.statcan.gc.ca/t1/tbl1/en/tv.action?pid=981002810" TargetMode="External"/><Relationship Id="rId4" Type="http://schemas.openxmlformats.org/officeDocument/2006/relationships/hyperlink" Target="https://www.metisnation.org/about-the-mno/culture-heritage/" TargetMode="External"/><Relationship Id="rId9" Type="http://schemas.openxmlformats.org/officeDocument/2006/relationships/hyperlink" Target="https://itk.ca/about-canadian-inuit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1"/>
          <p:cNvSpPr txBox="1"/>
          <p:nvPr/>
        </p:nvSpPr>
        <p:spPr>
          <a:xfrm>
            <a:off x="209075" y="4350563"/>
            <a:ext cx="2464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4343"/>
              </a:solidFill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pic>
        <p:nvPicPr>
          <p:cNvPr id="128" name="Google Shape;128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31"/>
          <p:cNvSpPr txBox="1"/>
          <p:nvPr/>
        </p:nvSpPr>
        <p:spPr>
          <a:xfrm>
            <a:off x="2415750" y="1005850"/>
            <a:ext cx="4312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31"/>
          <p:cNvSpPr txBox="1"/>
          <p:nvPr/>
        </p:nvSpPr>
        <p:spPr>
          <a:xfrm>
            <a:off x="1722675" y="401500"/>
            <a:ext cx="8183700" cy="16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</a:rPr>
              <a:t>Correlation between general health and mental health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2"/>
          <p:cNvSpPr txBox="1"/>
          <p:nvPr/>
        </p:nvSpPr>
        <p:spPr>
          <a:xfrm>
            <a:off x="3347925" y="718575"/>
            <a:ext cx="8183700" cy="16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2"/>
                </a:solidFill>
              </a:rPr>
              <a:t>Introduction</a:t>
            </a:r>
            <a:endParaRPr sz="23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136" name="Google Shape;136;p32"/>
          <p:cNvSpPr txBox="1"/>
          <p:nvPr/>
        </p:nvSpPr>
        <p:spPr>
          <a:xfrm>
            <a:off x="365175" y="1423174"/>
            <a:ext cx="8183700" cy="2937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-US" sz="1800" dirty="0">
                <a:solidFill>
                  <a:schemeClr val="dk2"/>
                </a:solidFill>
              </a:rPr>
              <a:t>Indigenous People: 3 categories - First Nations, Inuit, Metis - Original Inhabitants of Canada before European Settlement</a:t>
            </a:r>
            <a:endParaRPr sz="1800" dirty="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-US" sz="1800" dirty="0">
                <a:solidFill>
                  <a:schemeClr val="dk2"/>
                </a:solidFill>
              </a:rPr>
              <a:t>First Nations - Live on Reserve Land provided from Canadian Government [5, 2] registered under Indian Act</a:t>
            </a:r>
            <a:endParaRPr sz="1800" dirty="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-US" sz="1800" dirty="0">
                <a:solidFill>
                  <a:schemeClr val="dk2"/>
                </a:solidFill>
              </a:rPr>
              <a:t>Metis - Mixed people of European and First Nation Descent [1]</a:t>
            </a:r>
            <a:endParaRPr sz="1800" dirty="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-US" sz="1800" dirty="0">
                <a:solidFill>
                  <a:schemeClr val="dk2"/>
                </a:solidFill>
              </a:rPr>
              <a:t>Inuit - Inhabitants of Nunavut, Quebec, NFL, Northwest Territories [6]</a:t>
            </a:r>
            <a:endParaRPr sz="1800" dirty="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-US" sz="1800" dirty="0">
                <a:solidFill>
                  <a:schemeClr val="dk2"/>
                </a:solidFill>
              </a:rPr>
              <a:t>Focus on who are individuals facing problems in mental health</a:t>
            </a:r>
            <a:endParaRPr sz="1800" dirty="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-US" sz="1800" dirty="0">
                <a:solidFill>
                  <a:schemeClr val="dk2"/>
                </a:solidFill>
              </a:rPr>
              <a:t>Issues faced in 2 Categories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-US" sz="1800" b="1" dirty="0">
                <a:solidFill>
                  <a:schemeClr val="dk2"/>
                </a:solidFill>
              </a:rPr>
              <a:t>Indigenous Descent:</a:t>
            </a:r>
            <a:r>
              <a:rPr lang="en-US" sz="1800" dirty="0">
                <a:solidFill>
                  <a:schemeClr val="dk2"/>
                </a:solidFill>
              </a:rPr>
              <a:t> From the 3 categories of Indigenous People</a:t>
            </a:r>
            <a:endParaRPr sz="1800" dirty="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-US" sz="1800" b="1" dirty="0">
                <a:solidFill>
                  <a:schemeClr val="dk2"/>
                </a:solidFill>
              </a:rPr>
              <a:t>Housing</a:t>
            </a:r>
            <a:r>
              <a:rPr lang="en-US" sz="1800" dirty="0">
                <a:solidFill>
                  <a:schemeClr val="dk2"/>
                </a:solidFill>
              </a:rPr>
              <a:t>: Need for repairs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-US" sz="1800" dirty="0">
                <a:solidFill>
                  <a:schemeClr val="dk2"/>
                </a:solidFill>
              </a:rPr>
              <a:t>Impact of Indigenous Descent and Housing on Mental Health</a:t>
            </a:r>
            <a:endParaRPr sz="18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650" y="777300"/>
            <a:ext cx="7545774" cy="4111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4"/>
          <p:cNvSpPr txBox="1"/>
          <p:nvPr/>
        </p:nvSpPr>
        <p:spPr>
          <a:xfrm>
            <a:off x="480150" y="3419500"/>
            <a:ext cx="8183700" cy="16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-US" sz="1800">
                <a:solidFill>
                  <a:schemeClr val="dk2"/>
                </a:solidFill>
              </a:rPr>
              <a:t>Indigenous population mental health fair or poor highest among First Nations and Metis</a:t>
            </a: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-US" sz="1800">
                <a:solidFill>
                  <a:schemeClr val="dk2"/>
                </a:solidFill>
              </a:rPr>
              <a:t>Focus on Metis because they have the highest mental health realted issues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pic>
        <p:nvPicPr>
          <p:cNvPr id="147" name="Google Shape;147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325" y="1354800"/>
            <a:ext cx="8183700" cy="2005974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34"/>
          <p:cNvSpPr txBox="1"/>
          <p:nvPr/>
        </p:nvSpPr>
        <p:spPr>
          <a:xfrm>
            <a:off x="3441875" y="730325"/>
            <a:ext cx="8183700" cy="16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2"/>
                </a:solidFill>
              </a:rPr>
              <a:t>Plots</a:t>
            </a:r>
            <a:endParaRPr sz="23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5"/>
          <p:cNvSpPr txBox="1"/>
          <p:nvPr/>
        </p:nvSpPr>
        <p:spPr>
          <a:xfrm>
            <a:off x="764425" y="4171075"/>
            <a:ext cx="7468500" cy="8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-US" sz="1800">
                <a:solidFill>
                  <a:schemeClr val="dk2"/>
                </a:solidFill>
              </a:rPr>
              <a:t>Metis Mental Health ( 25 to 54 years of age and 55 years and over)</a:t>
            </a: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-US" sz="1800">
                <a:solidFill>
                  <a:schemeClr val="dk2"/>
                </a:solidFill>
              </a:rPr>
              <a:t>45.42% and 46.19% of individuals have self-perceived mental health fair or poor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pic>
        <p:nvPicPr>
          <p:cNvPr id="154" name="Google Shape;154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9075" y="704100"/>
            <a:ext cx="7259203" cy="3537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6"/>
          <p:cNvSpPr txBox="1"/>
          <p:nvPr/>
        </p:nvSpPr>
        <p:spPr>
          <a:xfrm>
            <a:off x="764425" y="4171075"/>
            <a:ext cx="7468500" cy="8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-US" sz="1800">
                <a:solidFill>
                  <a:schemeClr val="dk2"/>
                </a:solidFill>
              </a:rPr>
              <a:t>Among Metis population age group 25 and older</a:t>
            </a: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-US" sz="1800">
                <a:solidFill>
                  <a:schemeClr val="dk2"/>
                </a:solidFill>
              </a:rPr>
              <a:t>90% Major or minor repairs needed to houses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6AC010-85F1-3922-F28D-863437D3C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" y="853054"/>
            <a:ext cx="6246543" cy="303790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7"/>
          <p:cNvSpPr txBox="1"/>
          <p:nvPr/>
        </p:nvSpPr>
        <p:spPr>
          <a:xfrm>
            <a:off x="764425" y="4171075"/>
            <a:ext cx="7468500" cy="8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+"/>
            </a:pPr>
            <a:r>
              <a:rPr lang="en-US" sz="1800">
                <a:solidFill>
                  <a:schemeClr val="dk2"/>
                </a:solidFill>
              </a:rPr>
              <a:t>means non-binary men and women included</a:t>
            </a: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-US" sz="1800">
                <a:solidFill>
                  <a:schemeClr val="dk2"/>
                </a:solidFill>
              </a:rPr>
              <a:t>Men are having more major or minor repairs needed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pic>
        <p:nvPicPr>
          <p:cNvPr id="166" name="Google Shape;166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4425" y="932325"/>
            <a:ext cx="6769249" cy="327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9"/>
          <p:cNvSpPr txBox="1"/>
          <p:nvPr/>
        </p:nvSpPr>
        <p:spPr>
          <a:xfrm>
            <a:off x="611750" y="2010350"/>
            <a:ext cx="7468500" cy="25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-US" sz="1800" dirty="0">
                <a:solidFill>
                  <a:schemeClr val="dk2"/>
                </a:solidFill>
              </a:rPr>
              <a:t>Metis people were found to have issues of mental health related to housing needs and within higher age groups</a:t>
            </a:r>
            <a:endParaRPr sz="1800" dirty="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-US" sz="1800" b="1" dirty="0">
                <a:solidFill>
                  <a:schemeClr val="dk2"/>
                </a:solidFill>
              </a:rPr>
              <a:t>Residential Schools</a:t>
            </a:r>
            <a:r>
              <a:rPr lang="en-US" sz="1800" dirty="0">
                <a:solidFill>
                  <a:schemeClr val="dk2"/>
                </a:solidFill>
              </a:rPr>
              <a:t> - Christian schools where First Nations were required to follow European cultures [</a:t>
            </a:r>
            <a:endParaRPr sz="1800" dirty="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-US" sz="1800" dirty="0">
                <a:solidFill>
                  <a:schemeClr val="dk2"/>
                </a:solidFill>
              </a:rPr>
              <a:t>Assimilation of communities in Residential Schools in Canada - most are getting accommodate now in schools</a:t>
            </a:r>
            <a:endParaRPr sz="1800" dirty="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-US" sz="1800" dirty="0">
                <a:solidFill>
                  <a:schemeClr val="dk2"/>
                </a:solidFill>
              </a:rPr>
              <a:t>Last Residential School closed in 1996 [3]</a:t>
            </a:r>
            <a:endParaRPr sz="1800" dirty="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-US" sz="1800" dirty="0">
                <a:solidFill>
                  <a:schemeClr val="dk2"/>
                </a:solidFill>
              </a:rPr>
              <a:t>Cause of mental health concerns and related to income</a:t>
            </a:r>
            <a:endParaRPr sz="1800" dirty="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-US" sz="1800" dirty="0">
                <a:solidFill>
                  <a:schemeClr val="dk2"/>
                </a:solidFill>
              </a:rPr>
              <a:t>$35,600 income of Metis vs Canadians $70,500 [9, 10]</a:t>
            </a:r>
            <a:endParaRPr sz="1800" dirty="0">
              <a:solidFill>
                <a:schemeClr val="dk2"/>
              </a:solidFill>
            </a:endParaRPr>
          </a:p>
        </p:txBody>
      </p:sp>
      <p:sp>
        <p:nvSpPr>
          <p:cNvPr id="178" name="Google Shape;178;p39"/>
          <p:cNvSpPr txBox="1"/>
          <p:nvPr/>
        </p:nvSpPr>
        <p:spPr>
          <a:xfrm>
            <a:off x="960300" y="730275"/>
            <a:ext cx="8183700" cy="16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2"/>
                </a:solidFill>
              </a:rPr>
              <a:t>Analysis and Conclusion</a:t>
            </a:r>
            <a:endParaRPr sz="23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0"/>
          <p:cNvSpPr txBox="1"/>
          <p:nvPr/>
        </p:nvSpPr>
        <p:spPr>
          <a:xfrm>
            <a:off x="481750" y="860962"/>
            <a:ext cx="8509850" cy="449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[1]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 dirty="0">
                <a:solidFill>
                  <a:schemeClr val="hlink"/>
                </a:solidFill>
                <a:hlinkClick r:id="rId4"/>
              </a:rPr>
              <a:t>https://www.metisnation.org/about-the-mno/culture-heritage/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lvl="0"/>
            <a:r>
              <a:rPr lang="en-CA" dirty="0"/>
              <a:t>[2] </a:t>
            </a:r>
            <a:r>
              <a:rPr lang="en-US" u="sng" dirty="0">
                <a:solidFill>
                  <a:schemeClr val="hlink"/>
                </a:solidFill>
                <a:hlinkClick r:id="rId5"/>
              </a:rPr>
              <a:t>https://thecanadianencyclopedia.ca/en/timeline/the-indian-act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lvl="0"/>
            <a:r>
              <a:rPr lang="en-CA" dirty="0"/>
              <a:t>[3] </a:t>
            </a:r>
            <a:r>
              <a:rPr lang="en-US" u="sng" dirty="0">
                <a:solidFill>
                  <a:schemeClr val="hlink"/>
                </a:solidFill>
                <a:hlinkClick r:id="rId6"/>
              </a:rPr>
              <a:t>https://thecanadianencyclopedia.ca/en/article/residential-schools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lvl="0"/>
            <a:r>
              <a:rPr lang="en-CA" dirty="0"/>
              <a:t>[4] </a:t>
            </a:r>
            <a:r>
              <a:rPr lang="en-US" u="sng" dirty="0">
                <a:solidFill>
                  <a:schemeClr val="hlink"/>
                </a:solidFill>
                <a:hlinkClick r:id="rId7"/>
              </a:rPr>
              <a:t>https://www.rcaanc-cirnac.gc.ca/eng/1100100032275/1529354547314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lvl="0"/>
            <a:r>
              <a:rPr lang="en-CA" dirty="0"/>
              <a:t>[5] </a:t>
            </a:r>
            <a:r>
              <a:rPr lang="en-US" u="sng" dirty="0">
                <a:solidFill>
                  <a:schemeClr val="hlink"/>
                </a:solidFill>
                <a:hlinkClick r:id="rId8"/>
              </a:rPr>
              <a:t>https://thecanadianencyclopedia.ca/en/article/aboriginal-reserves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lvl="0"/>
            <a:r>
              <a:rPr lang="en-CA" dirty="0"/>
              <a:t>[6] </a:t>
            </a:r>
            <a:r>
              <a:rPr lang="en-US" u="sng" dirty="0">
                <a:solidFill>
                  <a:schemeClr val="hlink"/>
                </a:solidFill>
                <a:hlinkClick r:id="rId9"/>
              </a:rPr>
              <a:t>https://itk.ca/about-canadian-inuit/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lvl="0"/>
            <a:r>
              <a:rPr lang="en-CA" dirty="0"/>
              <a:t>[7] </a:t>
            </a:r>
            <a:r>
              <a:rPr lang="en-US" u="sng" dirty="0">
                <a:solidFill>
                  <a:schemeClr val="hlink"/>
                </a:solidFill>
                <a:hlinkClick r:id="rId10"/>
              </a:rPr>
              <a:t>https://www150.statcan.gc.ca/t1/tbl1/en/tv.action?pid=981002810</a:t>
            </a:r>
            <a:endParaRPr lang="en-US" u="sng" dirty="0">
              <a:solidFill>
                <a:schemeClr val="hlink"/>
              </a:solidFill>
            </a:endParaRPr>
          </a:p>
          <a:p>
            <a:pPr lvl="0"/>
            <a:endParaRPr dirty="0"/>
          </a:p>
          <a:p>
            <a:pPr lvl="0"/>
            <a:r>
              <a:rPr lang="en-CA" dirty="0"/>
              <a:t>[8] </a:t>
            </a:r>
            <a:r>
              <a:rPr lang="en-US" dirty="0">
                <a:hlinkClick r:id="rId11"/>
              </a:rPr>
              <a:t>https://www150.statcan.gc.ca/n1/pub/11-627-m/11-627-m2024019-eng.htm1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4" name="Google Shape;184;p40"/>
          <p:cNvSpPr txBox="1"/>
          <p:nvPr/>
        </p:nvSpPr>
        <p:spPr>
          <a:xfrm>
            <a:off x="752675" y="448450"/>
            <a:ext cx="8183700" cy="16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2"/>
                </a:solidFill>
              </a:rPr>
              <a:t>References</a:t>
            </a:r>
            <a:endParaRPr sz="23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1"/>
          <p:cNvSpPr txBox="1"/>
          <p:nvPr/>
        </p:nvSpPr>
        <p:spPr>
          <a:xfrm>
            <a:off x="0" y="1094100"/>
            <a:ext cx="9144000" cy="29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6000" b="1">
              <a:solidFill>
                <a:schemeClr val="lt1"/>
              </a:solidFill>
              <a:latin typeface="Fira Sans Condensed"/>
              <a:ea typeface="Fira Sans Condensed"/>
              <a:cs typeface="Fira Sans Condensed"/>
              <a:sym typeface="Fira Sans Condense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000" b="1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Chi-Miigwetch</a:t>
            </a:r>
            <a:endParaRPr sz="6000" b="1">
              <a:solidFill>
                <a:schemeClr val="lt1"/>
              </a:solidFill>
              <a:latin typeface="Fira Sans Condensed"/>
              <a:ea typeface="Fira Sans Condensed"/>
              <a:cs typeface="Fira Sans Condensed"/>
              <a:sym typeface="Fira Sans Condense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000" b="1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Thank you</a:t>
            </a:r>
            <a:endParaRPr sz="6000" b="1">
              <a:solidFill>
                <a:schemeClr val="lt1"/>
              </a:solidFill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ip dir="l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424</Words>
  <Application>Microsoft Office PowerPoint</Application>
  <PresentationFormat>On-screen Show (16:9)</PresentationFormat>
  <Paragraphs>51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Roboto</vt:lpstr>
      <vt:lpstr>Arial</vt:lpstr>
      <vt:lpstr>Fira Sans Condensed</vt:lpstr>
      <vt:lpstr>Dosis</vt:lpstr>
      <vt:lpstr>Lucida Sans</vt:lpstr>
      <vt:lpstr>Custom Design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Dipankar Majumdar</cp:lastModifiedBy>
  <cp:revision>2</cp:revision>
  <dcterms:modified xsi:type="dcterms:W3CDTF">2026-04-07T22:09:33Z</dcterms:modified>
</cp:coreProperties>
</file>